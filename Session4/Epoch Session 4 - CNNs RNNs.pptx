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Old Standard TT"/>
      <p:regular r:id="rId36"/>
      <p:bold r:id="rId37"/>
      <p: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OldStandardTT-bold.fntdata"/><Relationship Id="rId14" Type="http://schemas.openxmlformats.org/officeDocument/2006/relationships/slide" Target="slides/slide8.xml"/><Relationship Id="rId36" Type="http://schemas.openxmlformats.org/officeDocument/2006/relationships/font" Target="fonts/OldStandardTT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OldStandardTT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7bd5b07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7bd5b07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7bd5b07b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7bd5b07b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7bd5b07b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7bd5b07b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7bd5b07b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7bd5b07b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7bd5b07b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7bd5b07b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7bd5b07b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7bd5b07b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7bd5b07b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7bd5b07b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7bd5b07b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7bd5b07b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7bd5b07b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7bd5b07b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7bd5b07b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7bd5b07b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7bd5b07b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7bd5b07b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7bd5b07b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7bd5b07b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7bd5b07b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7bd5b07b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7bd5b07b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7bd5b07b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dc8e7d0c6_2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dc8e7d0c6_2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dc8e7d0c6_2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dc8e7d0c6_2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dc8e7d0c6_2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dc8e7d0c6_2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dc8e7d0c6_2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dc8e7d0c6_2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dc8e7d0c6_2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dc8e7d0c6_2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dc8e7d0c6_2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ddc8e7d0c6_2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dc8e7d0c6_2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dc8e7d0c6_2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dc8e7d0c6_2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dc8e7d0c6_2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dc8e7d0c6_2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dc8e7d0c6_2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dc8e7d0c6_2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dc8e7d0c6_2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dc8e7d0c6_2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dc8e7d0c6_2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dc8e7d0c6_2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ddc8e7d0c6_2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dc8e7d0c6_2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dc8e7d0c6_2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dc8e7d0c6_2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dc8e7d0c6_2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dc8e7d0c6_2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ddc8e7d0c6_2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5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5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" name="Google Shape;87;p21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21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4" name="Google Shape;9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97" name="Google Shape;97;p23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3" title="epoch_iith-Photoroom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991575" y="4027250"/>
            <a:ext cx="1029575" cy="10295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Relationship Id="rId4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Networks</a:t>
            </a:r>
            <a:endParaRPr/>
          </a:p>
        </p:txBody>
      </p:sp>
      <p:sp>
        <p:nvSpPr>
          <p:cNvPr id="106" name="Google Shape;106;p25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Investigating local features.</a:t>
            </a:r>
            <a:endParaRPr/>
          </a:p>
        </p:txBody>
      </p:sp>
      <p:pic>
        <p:nvPicPr>
          <p:cNvPr id="107" name="Google Shape;107;p25"/>
          <p:cNvPicPr preferRelativeResize="0"/>
          <p:nvPr/>
        </p:nvPicPr>
        <p:blipFill rotWithShape="1">
          <a:blip r:embed="rId3">
            <a:alphaModFix/>
          </a:blip>
          <a:srcRect b="0" l="12534" r="0" t="6664"/>
          <a:stretch/>
        </p:blipFill>
        <p:spPr>
          <a:xfrm>
            <a:off x="7868250" y="3688300"/>
            <a:ext cx="1275750" cy="14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flattening the image into a 1D vector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RGB Image of size 224 x 224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features: 224 x 224 x 3 = 150528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 many parameters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 a lot of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respect spatial structure</a:t>
            </a:r>
            <a:endParaRPr/>
          </a:p>
        </p:txBody>
      </p:sp>
      <p:pic>
        <p:nvPicPr>
          <p:cNvPr id="114" name="Google Shape;11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5288" y="1642600"/>
            <a:ext cx="2124075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Convolutional Neural Network</a:t>
            </a:r>
            <a:endParaRPr/>
          </a:p>
        </p:txBody>
      </p:sp>
      <p:sp>
        <p:nvSpPr>
          <p:cNvPr id="120" name="Google Shape;120;p2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CNNs revolutionized image recognition using automated feature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Designed to respect the 2D structure of images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Loosely modeled after the visual cortex</a:t>
            </a:r>
            <a:endParaRPr/>
          </a:p>
        </p:txBody>
      </p:sp>
      <p:pic>
        <p:nvPicPr>
          <p:cNvPr id="121" name="Google Shape;12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175" y="2212725"/>
            <a:ext cx="8755799" cy="24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Kernel and Stride</a:t>
            </a:r>
            <a:endParaRPr/>
          </a:p>
        </p:txBody>
      </p:sp>
      <p:sp>
        <p:nvSpPr>
          <p:cNvPr id="127" name="Google Shape;127;p28"/>
          <p:cNvSpPr txBox="1"/>
          <p:nvPr>
            <p:ph idx="1" type="body"/>
          </p:nvPr>
        </p:nvSpPr>
        <p:spPr>
          <a:xfrm>
            <a:off x="311700" y="1096925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marR="3810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Kernel is a small matrix that acts as a feature detector for edges and textures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same weights are used across the entire image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It computes the dot product at each position, outputting a feature map.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S(i, j) = (I * K)(i, j) =  ∑∑  I(i*S+m, j*S+n)K(m, n).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step the kernel takes as it slides over the image is called the Stride(S)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Output tensor dimension is 1 + (d_in - k)/stride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8" title="1_UxxTw7S3dAApb1F-EMzg2w.gif"/>
          <p:cNvPicPr preferRelativeResize="0"/>
          <p:nvPr/>
        </p:nvPicPr>
        <p:blipFill rotWithShape="1">
          <a:blip r:embed="rId3">
            <a:alphaModFix/>
          </a:blip>
          <a:srcRect b="4371" l="0" r="0" t="4371"/>
          <a:stretch/>
        </p:blipFill>
        <p:spPr>
          <a:xfrm>
            <a:off x="2372650" y="2991175"/>
            <a:ext cx="3824450" cy="19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/>
              <a:t>Classical Feature Detection Kernels (Pre-CNN Era)</a:t>
            </a:r>
            <a:endParaRPr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Sobel Filters (Used for edge detection)</a:t>
            </a:r>
            <a:endParaRPr/>
          </a:p>
        </p:txBody>
      </p:sp>
      <p:pic>
        <p:nvPicPr>
          <p:cNvPr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50" y="1663750"/>
            <a:ext cx="4365050" cy="210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4228" y="1891503"/>
            <a:ext cx="2493300" cy="11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2300"/>
              <a:t>Classical Feature Detection Kernels (Pre-CNN Era)</a:t>
            </a:r>
            <a:endParaRPr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Laplacian Filter(Second Order Edge)</a:t>
            </a:r>
            <a:endParaRPr/>
          </a:p>
        </p:txBody>
      </p:sp>
      <p:pic>
        <p:nvPicPr>
          <p:cNvPr id="143" name="Google Shape;14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50" y="1917800"/>
            <a:ext cx="5055825" cy="20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5975" y="1663875"/>
            <a:ext cx="3659700" cy="217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idea of convolution</a:t>
            </a:r>
            <a:endParaRPr/>
          </a:p>
        </p:txBody>
      </p:sp>
      <p:sp>
        <p:nvSpPr>
          <p:cNvPr id="150" name="Google Shape;150;p31"/>
          <p:cNvSpPr txBox="1"/>
          <p:nvPr>
            <p:ph idx="1" type="body"/>
          </p:nvPr>
        </p:nvSpPr>
        <p:spPr>
          <a:xfrm>
            <a:off x="311700" y="1096925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small filters (kernels)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Slide over image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Multiply &amp; sum</a:t>
            </a:r>
            <a:endParaRPr/>
          </a:p>
          <a:p>
            <a:pPr indent="-342900" lvl="0" marL="457200" marR="381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Produce feature map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497" y="1031100"/>
            <a:ext cx="2682951" cy="35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Pooling Operation</a:t>
            </a:r>
            <a:endParaRPr/>
          </a:p>
        </p:txBody>
      </p:sp>
      <p:sp>
        <p:nvSpPr>
          <p:cNvPr id="157" name="Google Shape;157;p32"/>
          <p:cNvSpPr txBox="1"/>
          <p:nvPr>
            <p:ph idx="1" type="body"/>
          </p:nvPr>
        </p:nvSpPr>
        <p:spPr>
          <a:xfrm>
            <a:off x="124450" y="1096925"/>
            <a:ext cx="9019500" cy="4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marR="3810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Reduces the spatial dimensions of the feature maps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Translational Invariance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Fixed Operations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Max Pooling : Select the maximum value from a neighbourhood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Average Pooling: Select the average value from a neighbourhood</a:t>
            </a:r>
            <a:endParaRPr sz="1700"/>
          </a:p>
          <a:p>
            <a:pPr indent="0" lvl="0" marL="45720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58" name="Google Shape;15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349" y="2622362"/>
            <a:ext cx="2736926" cy="238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Fully connected layers</a:t>
            </a:r>
            <a:endParaRPr/>
          </a:p>
        </p:txBody>
      </p:sp>
      <p:sp>
        <p:nvSpPr>
          <p:cNvPr id="164" name="Google Shape;164;p33"/>
          <p:cNvSpPr txBox="1"/>
          <p:nvPr>
            <p:ph idx="1" type="body"/>
          </p:nvPr>
        </p:nvSpPr>
        <p:spPr>
          <a:xfrm>
            <a:off x="66325" y="1161450"/>
            <a:ext cx="9144000" cy="42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marR="3810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High level features are “Flattened” into a 1d vector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final dense layers take the extracted features and perform classification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final fully connected layer uses softmax to output a probability distribution</a:t>
            </a:r>
            <a:endParaRPr sz="1700"/>
          </a:p>
          <a:p>
            <a:pPr indent="0" lvl="0" marL="45720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65" name="Google Shape;16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1000" y="2440350"/>
            <a:ext cx="4927101" cy="223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Typical CNN Architecture</a:t>
            </a:r>
            <a:endParaRPr/>
          </a:p>
        </p:txBody>
      </p:sp>
      <p:sp>
        <p:nvSpPr>
          <p:cNvPr id="171" name="Google Shape;171;p34"/>
          <p:cNvSpPr txBox="1"/>
          <p:nvPr>
            <p:ph idx="1" type="body"/>
          </p:nvPr>
        </p:nvSpPr>
        <p:spPr>
          <a:xfrm>
            <a:off x="311700" y="11384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450" y="958675"/>
            <a:ext cx="7038349" cy="388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Padding (Managing the Borders)</a:t>
            </a:r>
            <a:endParaRPr/>
          </a:p>
        </p:txBody>
      </p:sp>
      <p:sp>
        <p:nvSpPr>
          <p:cNvPr id="178" name="Google Shape;178;p35"/>
          <p:cNvSpPr txBox="1"/>
          <p:nvPr>
            <p:ph idx="1" type="body"/>
          </p:nvPr>
        </p:nvSpPr>
        <p:spPr>
          <a:xfrm>
            <a:off x="107800" y="895975"/>
            <a:ext cx="9144000" cy="42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marR="3810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Output dimensions shrink after every convolution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Information at the edges gets lost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Padding adds extra layers around the edges, allowing the kernel to slide over edges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Every time a kernel(size K) is convolved, spatial dimension decreases</a:t>
            </a:r>
            <a:endParaRPr sz="1700"/>
          </a:p>
          <a:p>
            <a:pPr indent="0" lvl="0" marL="45720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79" name="Google Shape;179;p35" title="padding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6975" y="2530750"/>
            <a:ext cx="4240476" cy="212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Typical CNN Architecture</a:t>
            </a:r>
            <a:endParaRPr/>
          </a:p>
        </p:txBody>
      </p:sp>
      <p:sp>
        <p:nvSpPr>
          <p:cNvPr id="185" name="Google Shape;185;p36"/>
          <p:cNvSpPr txBox="1"/>
          <p:nvPr>
            <p:ph idx="1" type="body"/>
          </p:nvPr>
        </p:nvSpPr>
        <p:spPr>
          <a:xfrm>
            <a:off x="311700" y="11384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700" y="1237800"/>
            <a:ext cx="6021651" cy="382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Timeline (ILSVRC)</a:t>
            </a:r>
            <a:endParaRPr/>
          </a:p>
        </p:txBody>
      </p:sp>
      <p:sp>
        <p:nvSpPr>
          <p:cNvPr id="192" name="Google Shape;192;p37"/>
          <p:cNvSpPr txBox="1"/>
          <p:nvPr>
            <p:ph idx="1" type="body"/>
          </p:nvPr>
        </p:nvSpPr>
        <p:spPr>
          <a:xfrm>
            <a:off x="240600" y="1058225"/>
            <a:ext cx="9308100" cy="39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marR="381000" rtl="0" algn="l"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1700"/>
              <a:t>LeNet-5(1998) : The pioneer for digit recognition using basic conv and pooling layers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AlexNet(2012): The big bang of deep learning. Popularized ReLU and dropout on massive networks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Resnet(2015): Solved the vanishing gradient problem using “Skip Connections”</a:t>
            </a:r>
            <a:endParaRPr sz="1700"/>
          </a:p>
          <a:p>
            <a:pPr indent="0" lvl="0" marL="45720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93" name="Google Shape;19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9775" y="2799125"/>
            <a:ext cx="5297500" cy="21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ResNets</a:t>
            </a:r>
            <a:endParaRPr/>
          </a:p>
        </p:txBody>
      </p:sp>
      <p:sp>
        <p:nvSpPr>
          <p:cNvPr id="199" name="Google Shape;199;p38"/>
          <p:cNvSpPr txBox="1"/>
          <p:nvPr>
            <p:ph idx="1" type="body"/>
          </p:nvPr>
        </p:nvSpPr>
        <p:spPr>
          <a:xfrm>
            <a:off x="240600" y="1058225"/>
            <a:ext cx="9308100" cy="39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marR="3810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Solved Vanishing gradients using skip connections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concept of skip connections from here was adopted in many other places in DL.</a:t>
            </a:r>
            <a:endParaRPr sz="1700"/>
          </a:p>
          <a:p>
            <a:pPr indent="-336550" lvl="0" marL="457200" marR="3810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Many variants that build on top of this exist e.g wide Resnets, densenets</a:t>
            </a:r>
            <a:endParaRPr sz="1700"/>
          </a:p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200" name="Google Shape;2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400" y="2383472"/>
            <a:ext cx="6710355" cy="21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Recurrent Neural Networks</a:t>
            </a:r>
            <a:endParaRPr/>
          </a:p>
        </p:txBody>
      </p:sp>
      <p:sp>
        <p:nvSpPr>
          <p:cNvPr id="206" name="Google Shape;206;p39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Resolving Amnesia</a:t>
            </a:r>
            <a:endParaRPr/>
          </a:p>
        </p:txBody>
      </p:sp>
      <p:pic>
        <p:nvPicPr>
          <p:cNvPr id="207" name="Google Shape;207;p39"/>
          <p:cNvPicPr preferRelativeResize="0"/>
          <p:nvPr/>
        </p:nvPicPr>
        <p:blipFill rotWithShape="1">
          <a:blip r:embed="rId3">
            <a:alphaModFix/>
          </a:blip>
          <a:srcRect b="0" l="12534" r="0" t="6664"/>
          <a:stretch/>
        </p:blipFill>
        <p:spPr>
          <a:xfrm>
            <a:off x="7868250" y="3688300"/>
            <a:ext cx="1275750" cy="14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Goldfish Problem</a:t>
            </a:r>
            <a:endParaRPr/>
          </a:p>
        </p:txBody>
      </p:sp>
      <p:sp>
        <p:nvSpPr>
          <p:cNvPr id="213" name="Google Shape;213;p4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Feedforward Networks fail at sequences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assume every input is fully independent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a prediction is made, their memory is wiped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cannot understand grammar, predict stock trends, or follow a video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219" name="Google Shape;219;p4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add memory!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“Sticky Note” Architecture: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passes its previous state back to itself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components: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xt : Current Input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ht : The “Sticky Note” (Memory/Hidden State)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yt : Prediction at this moment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 Behind RNNs</a:t>
            </a:r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weights (W) are identical across all steps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for generalization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Equation: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ht = tanh(Wxh * x(t) + Whh * h(t-1) + b)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Wxh * xt : What is happening right now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Whh * ht : What it remembers from previous steps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yt = softmax(Why * ht + b)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tanh : Squashes values between -1 and 1</a:t>
            </a:r>
            <a:endParaRPr/>
          </a:p>
        </p:txBody>
      </p:sp>
      <p:pic>
        <p:nvPicPr>
          <p:cNvPr id="226" name="Google Shape;22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825" y="1244675"/>
            <a:ext cx="3157825" cy="23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2"/>
          <p:cNvSpPr/>
          <p:nvPr/>
        </p:nvSpPr>
        <p:spPr>
          <a:xfrm>
            <a:off x="6648975" y="1502550"/>
            <a:ext cx="471600" cy="2138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Goldfish is Back</a:t>
            </a:r>
            <a:endParaRPr/>
          </a:p>
        </p:txBody>
      </p:sp>
      <p:sp>
        <p:nvSpPr>
          <p:cNvPr id="233" name="Google Shape;233;p4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Vanilla RNNs cannot handle long-term dependencies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Error signals must travel backward through every single time step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Backpropagation Through Time (BPTT)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signals get multiplied through every step.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Gradients</a:t>
            </a:r>
            <a:r>
              <a:rPr lang="en"/>
              <a:t> grow to infinity and the model crashes(when |W|&gt;1) (Exploding gradients)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 by gradient clipping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Gradients shrink to zero and the model forgets the past (Vanishing gradients)(when |W|&lt;1)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Short Term Memory Networks</a:t>
            </a:r>
            <a:endParaRPr/>
          </a:p>
        </p:txBody>
      </p:sp>
      <p:sp>
        <p:nvSpPr>
          <p:cNvPr id="239" name="Google Shape;239;p44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learning with selective amnesia.</a:t>
            </a:r>
            <a:endParaRPr/>
          </a:p>
        </p:txBody>
      </p:sp>
      <p:pic>
        <p:nvPicPr>
          <p:cNvPr id="240" name="Google Shape;240;p44"/>
          <p:cNvPicPr preferRelativeResize="0"/>
          <p:nvPr/>
        </p:nvPicPr>
        <p:blipFill rotWithShape="1">
          <a:blip r:embed="rId3">
            <a:alphaModFix/>
          </a:blip>
          <a:srcRect b="0" l="12534" r="0" t="6664"/>
          <a:stretch/>
        </p:blipFill>
        <p:spPr>
          <a:xfrm>
            <a:off x="7868250" y="3688300"/>
            <a:ext cx="1275750" cy="14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Smarter RNNs - LSTMs</a:t>
            </a:r>
            <a:endParaRPr/>
          </a:p>
        </p:txBody>
      </p:sp>
      <p:sp>
        <p:nvSpPr>
          <p:cNvPr id="246" name="Google Shape;246;p4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 two types of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term memory/hidden state : 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Long term memory/cell state : 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Think of it like reading a book. After reading each page you decide what to keep remember long term and what to forget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Helps overcome explosive and vanishing gradients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LSTM: Block overview</a:t>
            </a:r>
            <a:endParaRPr/>
          </a:p>
        </p:txBody>
      </p:sp>
      <p:sp>
        <p:nvSpPr>
          <p:cNvPr id="252" name="Google Shape;252;p46"/>
          <p:cNvSpPr txBox="1"/>
          <p:nvPr>
            <p:ph idx="1" type="body"/>
          </p:nvPr>
        </p:nvSpPr>
        <p:spPr>
          <a:xfrm>
            <a:off x="311700" y="1171600"/>
            <a:ext cx="36834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LSTM block contains: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Cell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Hidden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Forget Gate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 Gate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Gate</a:t>
            </a:r>
            <a:endParaRPr/>
          </a:p>
        </p:txBody>
      </p:sp>
      <p:pic>
        <p:nvPicPr>
          <p:cNvPr id="253" name="Google Shape;25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1075" y="935538"/>
            <a:ext cx="4361225" cy="327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LSTM: Sigmoid and Tanh</a:t>
            </a:r>
            <a:endParaRPr/>
          </a:p>
        </p:txBody>
      </p:sp>
      <p:sp>
        <p:nvSpPr>
          <p:cNvPr id="259" name="Google Shape;259;p47"/>
          <p:cNvSpPr txBox="1"/>
          <p:nvPr>
            <p:ph idx="1" type="body"/>
          </p:nvPr>
        </p:nvSpPr>
        <p:spPr>
          <a:xfrm>
            <a:off x="311700" y="1171600"/>
            <a:ext cx="36834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Sigmoid: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Acts as a soft switch.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% value to pass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Tanh: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Unlike sigmoid gives expressive values.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Richer representation than sigmoid</a:t>
            </a:r>
            <a:endParaRPr/>
          </a:p>
        </p:txBody>
      </p:sp>
      <p:pic>
        <p:nvPicPr>
          <p:cNvPr id="260" name="Google Shape;26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78438"/>
            <a:ext cx="4095100" cy="258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LSTM: Forget Gate</a:t>
            </a:r>
            <a:endParaRPr/>
          </a:p>
        </p:txBody>
      </p:sp>
      <p:sp>
        <p:nvSpPr>
          <p:cNvPr id="266" name="Google Shape;266;p48"/>
          <p:cNvSpPr txBox="1"/>
          <p:nvPr>
            <p:ph idx="1" type="body"/>
          </p:nvPr>
        </p:nvSpPr>
        <p:spPr>
          <a:xfrm>
            <a:off x="311700" y="1171600"/>
            <a:ext cx="36834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Decides which info is relevant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Formula: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700" y="1799038"/>
            <a:ext cx="3109074" cy="154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3175" y="1210625"/>
            <a:ext cx="4633774" cy="252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LSTM: Input Gate</a:t>
            </a:r>
            <a:endParaRPr/>
          </a:p>
        </p:txBody>
      </p:sp>
      <p:sp>
        <p:nvSpPr>
          <p:cNvPr id="274" name="Google Shape;274;p49"/>
          <p:cNvSpPr txBox="1"/>
          <p:nvPr>
            <p:ph idx="1" type="body"/>
          </p:nvPr>
        </p:nvSpPr>
        <p:spPr>
          <a:xfrm>
            <a:off x="311700" y="1171600"/>
            <a:ext cx="36834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should we store.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Formula: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Second equation is candidate memory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First decides the strength of candidate memory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950" y="1946475"/>
            <a:ext cx="2818850" cy="11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/>
          <p:cNvPicPr preferRelativeResize="0"/>
          <p:nvPr/>
        </p:nvPicPr>
        <p:blipFill rotWithShape="1">
          <a:blip r:embed="rId4">
            <a:alphaModFix/>
          </a:blip>
          <a:srcRect b="0" l="0" r="36717" t="0"/>
          <a:stretch/>
        </p:blipFill>
        <p:spPr>
          <a:xfrm>
            <a:off x="5259800" y="1210625"/>
            <a:ext cx="2818849" cy="243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LSTM: Cell state Update</a:t>
            </a:r>
            <a:endParaRPr/>
          </a:p>
        </p:txBody>
      </p:sp>
      <p:sp>
        <p:nvSpPr>
          <p:cNvPr id="282" name="Google Shape;282;p50"/>
          <p:cNvSpPr txBox="1"/>
          <p:nvPr>
            <p:ph idx="1" type="body"/>
          </p:nvPr>
        </p:nvSpPr>
        <p:spPr>
          <a:xfrm>
            <a:off x="311700" y="1171600"/>
            <a:ext cx="40920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 Update = Keep + Add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Formula: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term: Retained past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 term: New info</a:t>
            </a:r>
            <a:endParaRPr/>
          </a:p>
        </p:txBody>
      </p:sp>
      <p:pic>
        <p:nvPicPr>
          <p:cNvPr id="283" name="Google Shape;28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175" y="1874775"/>
            <a:ext cx="2718126" cy="997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LSTM: Output Gate</a:t>
            </a:r>
            <a:endParaRPr/>
          </a:p>
        </p:txBody>
      </p:sp>
      <p:sp>
        <p:nvSpPr>
          <p:cNvPr id="289" name="Google Shape;289;p51"/>
          <p:cNvSpPr txBox="1"/>
          <p:nvPr>
            <p:ph idx="1" type="body"/>
          </p:nvPr>
        </p:nvSpPr>
        <p:spPr>
          <a:xfrm>
            <a:off x="311700" y="1171600"/>
            <a:ext cx="36834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Outputs hidden state 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Formula: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51"/>
          <p:cNvPicPr preferRelativeResize="0"/>
          <p:nvPr/>
        </p:nvPicPr>
        <p:blipFill rotWithShape="1">
          <a:blip r:embed="rId3">
            <a:alphaModFix/>
          </a:blip>
          <a:srcRect b="0" l="0" r="23142" t="0"/>
          <a:stretch/>
        </p:blipFill>
        <p:spPr>
          <a:xfrm>
            <a:off x="5174300" y="1220125"/>
            <a:ext cx="3146575" cy="22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1274" y="2132725"/>
            <a:ext cx="3146576" cy="1211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LSTM: Visualization</a:t>
            </a:r>
            <a:endParaRPr/>
          </a:p>
        </p:txBody>
      </p:sp>
      <p:pic>
        <p:nvPicPr>
          <p:cNvPr id="297" name="Google Shape;297;p52" title="1_cVmtRp0XPXIHfzbdOzSIPg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25" y="1743525"/>
            <a:ext cx="7369852" cy="277509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52"/>
          <p:cNvSpPr txBox="1"/>
          <p:nvPr>
            <p:ph idx="1" type="body"/>
          </p:nvPr>
        </p:nvSpPr>
        <p:spPr>
          <a:xfrm>
            <a:off x="311700" y="1058225"/>
            <a:ext cx="7973700" cy="7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700"/>
              <a:t>Sentence: i loved kgf movie when i first watched it then i started finding it overrated but after rewatching i enjoyed it again now i don't really care about it</a:t>
            </a:r>
            <a:endParaRPr sz="17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Types of RNNs/LSTMs</a:t>
            </a:r>
            <a:endParaRPr/>
          </a:p>
        </p:txBody>
      </p:sp>
      <p:sp>
        <p:nvSpPr>
          <p:cNvPr id="304" name="Google Shape;304;p5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Many-to-One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Sequence of inputs -&gt; Final output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Sentiment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One-to-Many: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input -&gt; Sequence of outputs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Image captioning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Many-to-Many(Synced):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 at each step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Video frame classification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Many-to-Many(Seq2Seq):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Read the whole sequence, then output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Language Translation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